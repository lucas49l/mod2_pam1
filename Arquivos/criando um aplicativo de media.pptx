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3" r:id="rId13"/>
    <p:sldId id="284" r:id="rId14"/>
    <p:sldId id="282" r:id="rId15"/>
    <p:sldId id="286" r:id="rId16"/>
    <p:sldId id="288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9" r:id="rId26"/>
    <p:sldId id="298" r:id="rId27"/>
    <p:sldId id="300" r:id="rId28"/>
    <p:sldId id="301" r:id="rId29"/>
    <p:sldId id="302" r:id="rId30"/>
    <p:sldId id="303" r:id="rId31"/>
    <p:sldId id="304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4CB5E-5F22-1524-B5F2-C89BB8B60E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15D209-E1C9-2937-F1BB-F9DCE213C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9C70CC-B5D0-C118-AF7E-DFB573E49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7BBB47-26EF-A0CA-E98A-FB199EDF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FDFBE9-2916-44B1-6B37-7858E947D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762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E0D97-D795-CDD9-3828-2E4D28F8B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48B473-ACB8-3E44-417A-F1837ABF5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331799-7EC0-7A29-1827-E25F96D04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7664FA-9B02-1C2A-E2D8-205C65189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350952-C838-C767-6704-B47EDB28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24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0BEBF-F747-AC6D-D7A2-1241D0C84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6F6A3F4-3657-7FCE-1E0F-EA099D038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7B4928-816B-9F52-3559-059EAC73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8F158E-C771-2487-C4F5-5B5B0F05C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5247E1-0811-2DD0-C459-B9115358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760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5E7FC-78D7-FD42-A734-11D446825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C8F35C-125A-D63C-E359-7F3B556924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901242-07F2-1F87-39FF-787DCA5B6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A55787-ECBA-9588-C254-44F03F44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D5BCBF-26E1-7F1D-3AF1-B742ABF37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542D22-16F2-68D9-7760-E69FE6FB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136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DB9308-B214-1ABD-502C-C548E88A6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F1EDED-FF1D-D236-2FA6-B57E20987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34E298-674C-3AF4-4DD1-F738EAC71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03C498-280E-EE62-C95A-54F6A24E0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E0AECF6-BE5A-EC28-5BB9-C199FFFEA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AB6513E-653C-97E8-AA63-A51E6F41E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0352F10-DEFE-B8B2-EE4F-1CEAD6B4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5A69062-1E51-665C-C821-99F584DCC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6418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D429E-491C-4B51-CB03-AE4E30D3C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9C43C0A-847A-E327-E8A3-0CC0BAD8E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FAD5294-7F04-48A1-BB78-98FF1555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7E1ED2-4E67-2734-D7C4-E0377DE29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7257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F5AC7C4-BB88-5720-DD65-1928AB521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34B0D21-3AB2-A62C-857C-D092B899D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AFBE3E-AEEB-C7B7-5571-75BADBCE0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7696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CBBF9-51C8-00F6-6BD3-761287396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8A7AC8-47FB-C715-C9A4-5198F2BA0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0C2C47-3140-FB0D-4FE0-3B0530B1A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234EA6-1E81-3F8F-F275-427C1796A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AF691D-B3BA-67E5-0DE8-F143E99F6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23991F-932F-FAD2-CB88-8C14D4EA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55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758CD-78D7-07E3-ADBB-8C60B5C99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1E3FF23-A6A6-B643-1115-514BB679FA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228E99-F8E3-4EC4-C03A-F43CC69F5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8592BFC-28FA-F054-19F3-7BE32253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16C69B-E7CD-53AD-6774-2BA6E49BC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7E771E-5B84-5D85-FEDB-1D234FCE2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855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091E7C-BB04-52BB-56F4-E3948CA28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E4CBA9C-4C2E-73B1-B962-95004CB3B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006296-568A-9594-A14D-848B1D861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BF0036-CA63-3300-8ADA-5C24D24D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97943E-9C5A-97B4-87CC-F7EFA1E3C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644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D3C3FE-5C3A-8F5E-AE9E-73C769C828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97EB5E-E5D6-255B-9772-59BB6C0B7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3F1663-3DC3-AF9D-8FE5-6FD656043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79C508-23EE-272B-DEF9-31D83634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E10196-CF15-DD09-EA13-F9A51648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039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2B8E64E-ACCD-4B33-6652-5064BC6B0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71A6E2-2DFE-C865-E3C2-61001A0F3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9C9227-D547-91BE-5BCA-C5CD0E288A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BBD6E-9916-494A-B3F0-E84A4905F62B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FD0CE3-B0E2-BEA4-38A6-73CA8E458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BC5A4D-4BC2-EF0F-ADAA-DDADE6427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396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65399-1102-A15E-D5E8-8B090FF361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Aplicativo Media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4E22B9-3560-5935-AF9D-8A4C9DC223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Criar aplicativo calcular media </a:t>
            </a:r>
            <a:r>
              <a:rPr lang="pt-BR">
                <a:solidFill>
                  <a:schemeClr val="bg1"/>
                </a:solidFill>
              </a:rPr>
              <a:t>com </a:t>
            </a:r>
          </a:p>
          <a:p>
            <a:r>
              <a:rPr lang="pt-BR"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ConstraintLayout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82858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9E7DB49-3477-ED56-3169-AFAEAAA01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503" y="605908"/>
            <a:ext cx="9385647" cy="527685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015212" y="1305341"/>
            <a:ext cx="2881392" cy="424731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No </a:t>
            </a:r>
            <a:r>
              <a:rPr lang="pt-BR" dirty="0" err="1"/>
              <a:t>constraint</a:t>
            </a:r>
            <a:r>
              <a:rPr lang="pt-BR" dirty="0"/>
              <a:t> layout o elemento fica preso no lugar através de ancoras, que são essas </a:t>
            </a:r>
            <a:r>
              <a:rPr lang="pt-BR" dirty="0" err="1"/>
              <a:t>alcas</a:t>
            </a:r>
            <a:r>
              <a:rPr lang="pt-BR" dirty="0"/>
              <a:t> que ligam a esquerda e a direita. Percebam que ao colocar uma </a:t>
            </a:r>
            <a:r>
              <a:rPr lang="pt-BR" dirty="0" err="1"/>
              <a:t>constraint</a:t>
            </a:r>
            <a:r>
              <a:rPr lang="pt-BR" dirty="0"/>
              <a:t> ou ancora, a </a:t>
            </a:r>
            <a:r>
              <a:rPr lang="pt-BR" dirty="0" err="1"/>
              <a:t>alca</a:t>
            </a:r>
            <a:r>
              <a:rPr lang="pt-BR" dirty="0"/>
              <a:t> fica azul. Precisamos ao menos uma horizontal e uma vertical para conseguir uma coordenada de fixação.</a:t>
            </a:r>
          </a:p>
          <a:p>
            <a:r>
              <a:rPr lang="pt-BR" dirty="0"/>
              <a:t>Aqui eu criei </a:t>
            </a:r>
            <a:r>
              <a:rPr lang="pt-BR" dirty="0" err="1"/>
              <a:t>alcas</a:t>
            </a:r>
            <a:r>
              <a:rPr lang="pt-BR" dirty="0"/>
              <a:t> de fixação a esquerda e no topo ligadas ao </a:t>
            </a:r>
            <a:r>
              <a:rPr lang="pt-BR" dirty="0" err="1"/>
              <a:t>parent</a:t>
            </a:r>
            <a:r>
              <a:rPr lang="pt-BR" dirty="0"/>
              <a:t>, ou seja ao container que eh o layout</a:t>
            </a:r>
          </a:p>
        </p:txBody>
      </p:sp>
    </p:spTree>
    <p:extLst>
      <p:ext uri="{BB962C8B-B14F-4D97-AF65-F5344CB8AC3E}">
        <p14:creationId xmlns:p14="http://schemas.microsoft.com/office/powerpoint/2010/main" val="1070406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B52D861-DE07-E4BD-205D-CF2ED1809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838" y="975240"/>
            <a:ext cx="9385647" cy="527685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559819" y="1767005"/>
            <a:ext cx="2380343" cy="369331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a segunda nota, vou ligar acima no layout e a direita também no layout. O layout é o componente pai, onde estão todos os elementos dentro. Pai em inglês é </a:t>
            </a:r>
            <a:r>
              <a:rPr lang="pt-BR" dirty="0" err="1"/>
              <a:t>parent</a:t>
            </a:r>
            <a:r>
              <a:rPr lang="pt-BR" dirty="0"/>
              <a:t>, por isso que ligo em </a:t>
            </a:r>
            <a:r>
              <a:rPr lang="pt-BR" dirty="0" err="1"/>
              <a:t>parent</a:t>
            </a:r>
            <a:r>
              <a:rPr lang="pt-BR" dirty="0"/>
              <a:t>. Depois vamos colocar uma margem top e uma margem </a:t>
            </a:r>
            <a:r>
              <a:rPr lang="pt-BR" dirty="0" err="1"/>
              <a:t>end</a:t>
            </a:r>
            <a:r>
              <a:rPr lang="pt-BR" dirty="0"/>
              <a:t> de 50dp</a:t>
            </a:r>
          </a:p>
        </p:txBody>
      </p:sp>
    </p:spTree>
    <p:extLst>
      <p:ext uri="{BB962C8B-B14F-4D97-AF65-F5344CB8AC3E}">
        <p14:creationId xmlns:p14="http://schemas.microsoft.com/office/powerpoint/2010/main" val="3566319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663A723-234B-736C-7D46-D8618CEEA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987" y="975240"/>
            <a:ext cx="9385647" cy="527685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541822" y="936009"/>
            <a:ext cx="2380343" cy="535531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terceira nota vai ficar ligada a esquerda no container e acima vai ficar ligada a nota1.</a:t>
            </a:r>
          </a:p>
          <a:p>
            <a:r>
              <a:rPr lang="pt-BR" dirty="0" err="1"/>
              <a:t>Igamos</a:t>
            </a:r>
            <a:r>
              <a:rPr lang="pt-BR" dirty="0"/>
              <a:t> a parte de cima da nota3 a parte de baixo da nota1 e a parte esquerda da nota3 a parte esquerda do layout. O primeiro elemento, que eh a nota1 vai ligado ao layout ou pai. Os outros elementos abaixo dele </a:t>
            </a:r>
            <a:r>
              <a:rPr lang="pt-BR" dirty="0" err="1"/>
              <a:t>vao</a:t>
            </a:r>
            <a:r>
              <a:rPr lang="pt-BR" dirty="0"/>
              <a:t> ligados uns aos outros, assim se baixar o primeiro, todos os outros </a:t>
            </a:r>
            <a:r>
              <a:rPr lang="pt-BR" dirty="0" err="1"/>
              <a:t>vao</a:t>
            </a:r>
            <a:r>
              <a:rPr lang="pt-BR" dirty="0"/>
              <a:t> baixar junto</a:t>
            </a:r>
          </a:p>
        </p:txBody>
      </p:sp>
    </p:spTree>
    <p:extLst>
      <p:ext uri="{BB962C8B-B14F-4D97-AF65-F5344CB8AC3E}">
        <p14:creationId xmlns:p14="http://schemas.microsoft.com/office/powerpoint/2010/main" val="2422851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2353FE9-C5D1-BF08-1D16-0B8689E5E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382" y="975240"/>
            <a:ext cx="9385647" cy="527685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670807" y="2736502"/>
            <a:ext cx="2380343" cy="175432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a quarta nota, ligamos a parte de cima dela com a </a:t>
            </a:r>
            <a:r>
              <a:rPr lang="pt-BR" dirty="0" err="1"/>
              <a:t>parate</a:t>
            </a:r>
            <a:r>
              <a:rPr lang="pt-BR" dirty="0"/>
              <a:t> de baixo da nota2 e a parte direita dele a parte direita do layout</a:t>
            </a:r>
          </a:p>
        </p:txBody>
      </p:sp>
    </p:spTree>
    <p:extLst>
      <p:ext uri="{BB962C8B-B14F-4D97-AF65-F5344CB8AC3E}">
        <p14:creationId xmlns:p14="http://schemas.microsoft.com/office/powerpoint/2010/main" val="4263337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6895480-113C-A1D0-7DE2-1344BC21A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291" y="975240"/>
            <a:ext cx="9385647" cy="527685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554897" y="1490006"/>
            <a:ext cx="2380343" cy="424731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o campo das faltas, ligamos a parte de cima do elemento a parte de baixo da nota3, e como quero que o elemento fique centralizado na tela, ligo a parte esquerda ao layout e a parte direita ao layout, assim crio uma mola puxando para um lado e outra puxando para o </a:t>
            </a:r>
            <a:r>
              <a:rPr lang="pt-BR" dirty="0" err="1"/>
              <a:t>ontro</a:t>
            </a:r>
            <a:r>
              <a:rPr lang="pt-BR" dirty="0"/>
              <a:t> lado, e isso deixa o elemento centralizado</a:t>
            </a:r>
          </a:p>
        </p:txBody>
      </p:sp>
    </p:spTree>
    <p:extLst>
      <p:ext uri="{BB962C8B-B14F-4D97-AF65-F5344CB8AC3E}">
        <p14:creationId xmlns:p14="http://schemas.microsoft.com/office/powerpoint/2010/main" val="1787091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E7024CC7-4739-A7FD-ECB9-8B4C75A40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624" y="975240"/>
            <a:ext cx="9385647" cy="527685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144000" y="1490006"/>
            <a:ext cx="2894074" cy="424731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o botão, eu ligo a parte de cima a parte de baixo do campo das notas, e ligo a esquerda e a direita. O campo deveria ficar centralizado como o campo acima, mas ele esta pegando todo o tamanho da tela. Isso porque a largura esta definida como </a:t>
            </a:r>
            <a:r>
              <a:rPr lang="pt-BR" dirty="0" err="1"/>
              <a:t>match_parent</a:t>
            </a:r>
            <a:r>
              <a:rPr lang="pt-BR" dirty="0"/>
              <a:t>. Para desgrudar das </a:t>
            </a:r>
            <a:r>
              <a:rPr lang="pt-BR" dirty="0" err="1"/>
              <a:t>magrgens</a:t>
            </a:r>
            <a:r>
              <a:rPr lang="pt-BR" dirty="0"/>
              <a:t> podemos colocar uma margem esquerda e uma direita de uns 32dp</a:t>
            </a:r>
          </a:p>
        </p:txBody>
      </p:sp>
    </p:spTree>
    <p:extLst>
      <p:ext uri="{BB962C8B-B14F-4D97-AF65-F5344CB8AC3E}">
        <p14:creationId xmlns:p14="http://schemas.microsoft.com/office/powerpoint/2010/main" val="2805279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CE415D2-95A9-9076-A55A-576A410E5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108" y="975240"/>
            <a:ext cx="9385647" cy="527685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567776" y="2922361"/>
            <a:ext cx="2380343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Agora o botão ficou mais legal sem estar colado nas extremidades do layout</a:t>
            </a:r>
          </a:p>
        </p:txBody>
      </p:sp>
    </p:spTree>
    <p:extLst>
      <p:ext uri="{BB962C8B-B14F-4D97-AF65-F5344CB8AC3E}">
        <p14:creationId xmlns:p14="http://schemas.microsoft.com/office/powerpoint/2010/main" val="1289962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8949590" y="2229863"/>
            <a:ext cx="2380343" cy="258532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 </a:t>
            </a:r>
            <a:r>
              <a:rPr lang="pt-BR" dirty="0" err="1"/>
              <a:t>TextView</a:t>
            </a:r>
            <a:r>
              <a:rPr lang="pt-BR" dirty="0"/>
              <a:t> vai ficar ligado pela parte de cima ao botão e ligo a esquerda e a direita, mas ele não estica porque o </a:t>
            </a:r>
            <a:r>
              <a:rPr lang="pt-BR" dirty="0" err="1"/>
              <a:t>comprimeito</a:t>
            </a:r>
            <a:r>
              <a:rPr lang="pt-BR" dirty="0"/>
              <a:t> esta definido como </a:t>
            </a:r>
            <a:r>
              <a:rPr lang="pt-BR" dirty="0" err="1"/>
              <a:t>wrap_contente</a:t>
            </a:r>
            <a:r>
              <a:rPr lang="pt-BR" dirty="0"/>
              <a:t>. </a:t>
            </a:r>
            <a:r>
              <a:rPr lang="pt-BR" dirty="0" err="1"/>
              <a:t>Entao</a:t>
            </a:r>
            <a:r>
              <a:rPr lang="pt-BR" dirty="0"/>
              <a:t> ele fica centralizado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73EE39DC-8ACE-0B67-79FF-C5D18C298D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939" y="1346856"/>
            <a:ext cx="7739489" cy="4351338"/>
          </a:xfrm>
        </p:spPr>
      </p:pic>
    </p:spTree>
    <p:extLst>
      <p:ext uri="{BB962C8B-B14F-4D97-AF65-F5344CB8AC3E}">
        <p14:creationId xmlns:p14="http://schemas.microsoft.com/office/powerpoint/2010/main" val="1182932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CE415D2-95A9-9076-A55A-576A410E5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108" y="975240"/>
            <a:ext cx="9385647" cy="527685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567776" y="2922361"/>
            <a:ext cx="2380343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Agora o botão ficou mais legal sem estar colado nas extremidades do layout</a:t>
            </a:r>
          </a:p>
        </p:txBody>
      </p:sp>
    </p:spTree>
    <p:extLst>
      <p:ext uri="{BB962C8B-B14F-4D97-AF65-F5344CB8AC3E}">
        <p14:creationId xmlns:p14="http://schemas.microsoft.com/office/powerpoint/2010/main" val="2570426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36F72-9D28-3C3A-08CB-D1E15577E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Tipos de medias para os elementos de </a:t>
            </a:r>
            <a:r>
              <a:rPr lang="pt-BR" dirty="0" err="1">
                <a:solidFill>
                  <a:schemeClr val="bg1"/>
                </a:solidFill>
              </a:rPr>
              <a:t>visualizacao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4240DF7-012F-E4AC-C111-E20CFCE48CA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503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pt-BR" dirty="0"/>
              <a:t>Existem três tipos de medidas que podemos utilizar para configurar os elementos e essas medidas podem ser usadas tanto na horizontal quanto na vertical:</a:t>
            </a:r>
          </a:p>
          <a:p>
            <a:pPr marL="0" indent="0">
              <a:buNone/>
            </a:pPr>
            <a:r>
              <a:rPr lang="pt-BR" dirty="0" err="1"/>
              <a:t>Wrap_content</a:t>
            </a:r>
            <a:r>
              <a:rPr lang="pt-BR" dirty="0"/>
              <a:t>: nesse tipo de medida o tamanho do elemento se ajusta ao tamanho do conteúdo. </a:t>
            </a:r>
            <a:r>
              <a:rPr lang="pt-BR" dirty="0" err="1"/>
              <a:t>Entao</a:t>
            </a:r>
            <a:r>
              <a:rPr lang="pt-BR" dirty="0"/>
              <a:t> se temos um texto pequeno dentro do elemento, o elemento também fica pequeno. Aumentando o texto, o elemento se </a:t>
            </a:r>
            <a:r>
              <a:rPr lang="pt-BR" dirty="0" err="1"/>
              <a:t>ajuta</a:t>
            </a:r>
            <a:r>
              <a:rPr lang="pt-BR" dirty="0"/>
              <a:t> para caber.</a:t>
            </a:r>
          </a:p>
          <a:p>
            <a:pPr marL="0" indent="0">
              <a:buNone/>
            </a:pPr>
            <a:r>
              <a:rPr lang="pt-BR" dirty="0" err="1"/>
              <a:t>Match_parent</a:t>
            </a:r>
            <a:r>
              <a:rPr lang="pt-BR" dirty="0"/>
              <a:t>: Nesse tipo de medida, o elemento ocupa todo espaço disponível do dispositivo.</a:t>
            </a:r>
          </a:p>
          <a:p>
            <a:pPr marL="0" indent="0">
              <a:buNone/>
            </a:pPr>
            <a:r>
              <a:rPr lang="pt-BR" dirty="0" err="1"/>
              <a:t>Fixed</a:t>
            </a:r>
            <a:r>
              <a:rPr lang="pt-BR" dirty="0"/>
              <a:t>: tamanho fixo.</a:t>
            </a:r>
          </a:p>
        </p:txBody>
      </p:sp>
    </p:spTree>
    <p:extLst>
      <p:ext uri="{BB962C8B-B14F-4D97-AF65-F5344CB8AC3E}">
        <p14:creationId xmlns:p14="http://schemas.microsoft.com/office/powerpoint/2010/main" val="1578983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36F72-9D28-3C3A-08CB-D1E15577E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7321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</a:rPr>
              <a:t>No modo design podemos ver três tipos de ícones para as medidas</a:t>
            </a:r>
            <a:r>
              <a:rPr lang="pt-BR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4240DF7-012F-E4AC-C111-E20CFCE48CA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58585" y="1062446"/>
            <a:ext cx="10874829" cy="557075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pt-BR" dirty="0"/>
              <a:t>Existem três tipos de medidas que podemos utilizar para configurar os elementos e essas medidas podem ser usadas tanto na horizontal quanto na vertical:</a:t>
            </a:r>
          </a:p>
          <a:p>
            <a:pPr marL="0" indent="0">
              <a:buNone/>
            </a:pPr>
            <a:r>
              <a:rPr lang="pt-BR" dirty="0" err="1"/>
              <a:t>Wrap_content</a:t>
            </a:r>
            <a:r>
              <a:rPr lang="pt-BR" dirty="0"/>
              <a:t>			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Aqui o </a:t>
            </a:r>
            <a:r>
              <a:rPr lang="pt-B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icone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eh duas setas na 								horizontal e duas na vertical o que 			</a:t>
            </a:r>
          </a:p>
          <a:p>
            <a:pPr marL="0" indent="0">
              <a:buNone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indica que os dois estão ajustáveis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t-BR" dirty="0" err="1"/>
              <a:t>Match_parent</a:t>
            </a:r>
            <a:r>
              <a:rPr lang="pt-BR" dirty="0"/>
              <a:t>:			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Aqui o </a:t>
            </a:r>
            <a:r>
              <a:rPr lang="pt-B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icone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eh como uma mola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			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indicando que ele vai se ajustar ao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		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dispositivo não ao elemento</a:t>
            </a:r>
          </a:p>
          <a:p>
            <a:pPr marL="0" indent="0">
              <a:buNone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t-BR" dirty="0" err="1"/>
              <a:t>Fixed</a:t>
            </a:r>
            <a:r>
              <a:rPr lang="pt-BR" dirty="0"/>
              <a:t>:					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Aqui temos uma medida fixa e o </a:t>
            </a:r>
            <a:r>
              <a:rPr lang="pt-B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icone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		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mostra um </a:t>
            </a:r>
            <a:r>
              <a:rPr lang="pt-B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traco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delimitado</a:t>
            </a: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D22ACF-D5AD-B8ED-C3D4-52E35034C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97" y="2132105"/>
            <a:ext cx="1214594" cy="110171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71B3085-5973-03A9-5004-D7284C200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315" y="3752620"/>
            <a:ext cx="1222576" cy="110171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11B82BA-1262-2FC5-BE61-9A5AB3014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2297" y="5391162"/>
            <a:ext cx="1256572" cy="110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588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50829" y="1825625"/>
            <a:ext cx="10030680" cy="424731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Passos para criação de um app:</a:t>
            </a:r>
          </a:p>
          <a:p>
            <a:endParaRPr lang="pt-BR" dirty="0"/>
          </a:p>
          <a:p>
            <a:r>
              <a:rPr lang="pt-BR" dirty="0"/>
              <a:t>No arquivo </a:t>
            </a:r>
            <a:r>
              <a:rPr lang="pt-BR" dirty="0" err="1"/>
              <a:t>xml</a:t>
            </a:r>
            <a:r>
              <a:rPr lang="pt-BR" dirty="0"/>
              <a:t>:</a:t>
            </a:r>
          </a:p>
          <a:p>
            <a:r>
              <a:rPr lang="pt-BR" dirty="0"/>
              <a:t>=============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Criação da tela (layout)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Identificação dos elementos (colocar um id em cada elemento)</a:t>
            </a: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r>
              <a:rPr lang="pt-BR" dirty="0"/>
              <a:t>Na Classe:</a:t>
            </a:r>
          </a:p>
          <a:p>
            <a:r>
              <a:rPr lang="pt-BR" dirty="0"/>
              <a:t>=========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Para cada elemento do layout, declarar um elemento do mesmo tipo na classe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Ligar o layout com a classe através do método </a:t>
            </a:r>
            <a:r>
              <a:rPr lang="pt-BR" dirty="0" err="1"/>
              <a:t>findViewById</a:t>
            </a:r>
            <a:r>
              <a:rPr lang="pt-BR" dirty="0"/>
              <a:t>()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Adicionar evento de clique para os botões.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Desenvolver a logica. (A logica será desenvolvida dentro do método </a:t>
            </a:r>
            <a:r>
              <a:rPr lang="pt-BR" dirty="0" err="1"/>
              <a:t>onCreate</a:t>
            </a:r>
            <a:r>
              <a:rPr lang="pt-BR" dirty="0"/>
              <a:t>, que é o primeiro método que roda ao abrirmos um app.</a:t>
            </a:r>
          </a:p>
          <a:p>
            <a:pPr marL="342900" indent="-342900"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5417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1">
            <a:extLst>
              <a:ext uri="{FF2B5EF4-FFF2-40B4-BE49-F238E27FC236}">
                <a16:creationId xmlns:a16="http://schemas.microsoft.com/office/drawing/2014/main" id="{0BF6BA92-552E-43F3-B8E9-30DED8B401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5712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9554897" y="1490006"/>
            <a:ext cx="2380343" cy="369331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Logo no inicio da classe, vamos declarar todos os elementos do layout que iremos usar.</a:t>
            </a:r>
          </a:p>
          <a:p>
            <a:r>
              <a:rPr lang="pt-BR" dirty="0"/>
              <a:t>Esses elementos são classes.</a:t>
            </a:r>
          </a:p>
          <a:p>
            <a:r>
              <a:rPr lang="pt-BR" dirty="0"/>
              <a:t>E toda classe sempre começa com letra maiúscula</a:t>
            </a:r>
          </a:p>
          <a:p>
            <a:r>
              <a:rPr lang="pt-BR" dirty="0"/>
              <a:t>Aqui temos a classe </a:t>
            </a:r>
            <a:r>
              <a:rPr lang="pt-BR" dirty="0" err="1"/>
              <a:t>MainActivity</a:t>
            </a:r>
            <a:r>
              <a:rPr lang="pt-BR" dirty="0"/>
              <a:t> que esta herdando da classe </a:t>
            </a:r>
            <a:r>
              <a:rPr lang="pt-BR" dirty="0" err="1"/>
              <a:t>AppCompatActivity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5961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725989" y="1490006"/>
            <a:ext cx="3209252" cy="452431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temos o método </a:t>
            </a:r>
            <a:r>
              <a:rPr lang="pt-BR" dirty="0" err="1"/>
              <a:t>onCreate</a:t>
            </a:r>
            <a:r>
              <a:rPr lang="pt-BR" dirty="0"/>
              <a:t>, esse método é abstrato na classe </a:t>
            </a:r>
            <a:r>
              <a:rPr lang="pt-BR" dirty="0" err="1"/>
              <a:t>AppCompatActivity</a:t>
            </a:r>
            <a:r>
              <a:rPr lang="pt-BR" dirty="0"/>
              <a:t>, então aqui temos que sobrescreve-lo.</a:t>
            </a:r>
          </a:p>
          <a:p>
            <a:r>
              <a:rPr lang="pt-BR" dirty="0"/>
              <a:t>E dentro dele (após o </a:t>
            </a:r>
            <a:r>
              <a:rPr lang="pt-BR" dirty="0" err="1"/>
              <a:t>setContentView</a:t>
            </a:r>
            <a:r>
              <a:rPr lang="pt-BR" dirty="0"/>
              <a:t>) vamos criar um método </a:t>
            </a:r>
            <a:r>
              <a:rPr lang="pt-BR" dirty="0" err="1"/>
              <a:t>initComponents</a:t>
            </a:r>
            <a:r>
              <a:rPr lang="pt-BR" dirty="0"/>
              <a:t>()</a:t>
            </a:r>
          </a:p>
          <a:p>
            <a:r>
              <a:rPr lang="pt-BR" dirty="0" err="1"/>
              <a:t>Metodos</a:t>
            </a:r>
            <a:r>
              <a:rPr lang="pt-BR" dirty="0"/>
              <a:t> e variáveis são sempre escritos com letra minúscula no inicio.</a:t>
            </a:r>
          </a:p>
          <a:p>
            <a:r>
              <a:rPr lang="pt-BR" dirty="0"/>
              <a:t>Para criar basta escrever como esta aqui: </a:t>
            </a:r>
            <a:r>
              <a:rPr lang="pt-BR" dirty="0" err="1"/>
              <a:t>initComponents</a:t>
            </a:r>
            <a:r>
              <a:rPr lang="pt-BR" dirty="0"/>
              <a:t>();</a:t>
            </a:r>
          </a:p>
          <a:p>
            <a:r>
              <a:rPr lang="pt-BR" dirty="0"/>
              <a:t>Ele vai ficar vermelho, então clicamos na lâmpada e pedimos para criar o método.</a:t>
            </a:r>
          </a:p>
        </p:txBody>
      </p:sp>
      <p:pic>
        <p:nvPicPr>
          <p:cNvPr id="14" name="Espaço Reservado para Conteúdo 13">
            <a:extLst>
              <a:ext uri="{FF2B5EF4-FFF2-40B4-BE49-F238E27FC236}">
                <a16:creationId xmlns:a16="http://schemas.microsoft.com/office/drawing/2014/main" id="{0ADBCFC7-84BE-4A34-BA13-07F0EF0B1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09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926287" y="1490006"/>
            <a:ext cx="3008954" cy="203132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Esse método será criado aqui dentro da </a:t>
            </a:r>
            <a:r>
              <a:rPr lang="pt-BR" dirty="0" err="1"/>
              <a:t>MainActivity</a:t>
            </a:r>
            <a:r>
              <a:rPr lang="pt-BR" dirty="0"/>
              <a:t>, depois do método </a:t>
            </a:r>
            <a:r>
              <a:rPr lang="pt-BR" dirty="0" err="1"/>
              <a:t>onCreate</a:t>
            </a:r>
            <a:r>
              <a:rPr lang="pt-BR" dirty="0"/>
              <a:t>.</a:t>
            </a:r>
          </a:p>
          <a:p>
            <a:r>
              <a:rPr lang="pt-BR" dirty="0"/>
              <a:t>Todo método e classe sempre tem um escopo, que é o bloco entre chaves que delimitam esse métodos e classes.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A74E319B-68B7-40B6-9A64-D5568CCE61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893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934995" y="1490006"/>
            <a:ext cx="3000246" cy="369331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Nesse método, a gente vai ligar todos os elementos do layout com a classe.</a:t>
            </a:r>
          </a:p>
          <a:p>
            <a:r>
              <a:rPr lang="pt-BR" dirty="0" err="1"/>
              <a:t>Entao</a:t>
            </a:r>
            <a:r>
              <a:rPr lang="pt-BR" dirty="0"/>
              <a:t> criamos a variável nota1 que é do tipo </a:t>
            </a:r>
            <a:r>
              <a:rPr lang="pt-BR" dirty="0" err="1"/>
              <a:t>EditText</a:t>
            </a:r>
            <a:r>
              <a:rPr lang="pt-BR" dirty="0"/>
              <a:t> para receber o valor que </a:t>
            </a:r>
            <a:r>
              <a:rPr lang="pt-BR" dirty="0" err="1"/>
              <a:t>sera</a:t>
            </a:r>
            <a:r>
              <a:rPr lang="pt-BR" dirty="0"/>
              <a:t> digitado </a:t>
            </a:r>
            <a:r>
              <a:rPr lang="pt-BR" dirty="0" err="1"/>
              <a:t>la</a:t>
            </a:r>
            <a:r>
              <a:rPr lang="pt-BR" dirty="0"/>
              <a:t> no layout no campo nota1</a:t>
            </a:r>
          </a:p>
          <a:p>
            <a:r>
              <a:rPr lang="pt-BR" dirty="0" err="1"/>
              <a:t>findViewById</a:t>
            </a:r>
            <a:r>
              <a:rPr lang="pt-BR" dirty="0"/>
              <a:t>() é o método que localiza um elemento pelo seu id, por isso temos que colocar o id nos elementos </a:t>
            </a:r>
            <a:r>
              <a:rPr lang="pt-BR" dirty="0" err="1"/>
              <a:t>la</a:t>
            </a:r>
            <a:r>
              <a:rPr lang="pt-BR" dirty="0"/>
              <a:t> no layout.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3022B30C-FA28-4D74-A222-C246812AA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00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47909" y="1490006"/>
            <a:ext cx="3087331" cy="175432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então na linha 25 o programa desvia para o método </a:t>
            </a:r>
            <a:r>
              <a:rPr lang="pt-BR" dirty="0" err="1"/>
              <a:t>initComponents</a:t>
            </a:r>
            <a:r>
              <a:rPr lang="pt-BR" dirty="0"/>
              <a:t>, que vai ligar o layout com a classe, depois volta na linha abaixo que eh a 26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3CF1EDA6-F846-47F0-A35C-F73D5C9EE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33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9554897" y="1490006"/>
            <a:ext cx="2380343" cy="313932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Fizemos os passos 1, 2 e 3, agora vamos criar o evento de click do botão calcular</a:t>
            </a:r>
          </a:p>
          <a:p>
            <a:r>
              <a:rPr lang="pt-BR" dirty="0"/>
              <a:t>Fazemos isso dentro do método </a:t>
            </a:r>
            <a:r>
              <a:rPr lang="pt-BR" dirty="0" err="1"/>
              <a:t>onCreate</a:t>
            </a:r>
            <a:r>
              <a:rPr lang="pt-BR" dirty="0"/>
              <a:t>.</a:t>
            </a:r>
          </a:p>
          <a:p>
            <a:r>
              <a:rPr lang="pt-BR" dirty="0"/>
              <a:t>Esse método tem que ficar depois do </a:t>
            </a:r>
            <a:r>
              <a:rPr lang="pt-BR" dirty="0" err="1"/>
              <a:t>setContentView</a:t>
            </a:r>
            <a:r>
              <a:rPr lang="pt-BR" dirty="0"/>
              <a:t> que é o método que desenha a tela.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74A2E615-BE39-4374-BC53-3F0CD4CA3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275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39201" y="1490006"/>
            <a:ext cx="3096040" cy="452431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Quando a gente programa, temos que pensar em quem vai usar o app (usuário). E temos que prever que ele pode fazer algo errado, e contornar o erro.</a:t>
            </a:r>
          </a:p>
          <a:p>
            <a:r>
              <a:rPr lang="pt-BR" dirty="0"/>
              <a:t>Aqui a gente vai calcular a media, então todos os campos de nota tem que estar preenchidos. </a:t>
            </a:r>
          </a:p>
          <a:p>
            <a:r>
              <a:rPr lang="pt-BR" dirty="0"/>
              <a:t>Temos que garantir isso, criando um método para forçar o usuário digitar tudo.</a:t>
            </a:r>
          </a:p>
          <a:p>
            <a:r>
              <a:rPr lang="pt-BR" dirty="0"/>
              <a:t>Fazemos isso criando o </a:t>
            </a:r>
            <a:r>
              <a:rPr lang="pt-BR" dirty="0" err="1"/>
              <a:t>validaCampos</a:t>
            </a:r>
            <a:r>
              <a:rPr lang="pt-BR" dirty="0"/>
              <a:t> e pedindo para a IDE criar.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F0F3A558-2C7D-4CB7-B566-DCC340970F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815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13075" y="1490006"/>
            <a:ext cx="3122166" cy="203132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classe </a:t>
            </a:r>
            <a:r>
              <a:rPr lang="pt-BR" dirty="0" err="1"/>
              <a:t>TextUtils.isEmpty</a:t>
            </a:r>
            <a:r>
              <a:rPr lang="pt-BR" dirty="0"/>
              <a:t> checa se o campo esta vazio ou com espaços.</a:t>
            </a:r>
          </a:p>
          <a:p>
            <a:r>
              <a:rPr lang="pt-BR" dirty="0"/>
              <a:t>Se estiver, ao clicar no botão calcular, ele não vai e fica esperando ate que todos os campos estejam preenchidos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D95F3D9C-820E-4E4C-8957-017EDC5C2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95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13075" y="1490006"/>
            <a:ext cx="3122166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Digitamos o nome do método para calcular a media e pedimos para o Android criar o </a:t>
            </a:r>
            <a:r>
              <a:rPr lang="pt-BR" dirty="0" err="1"/>
              <a:t>metodo</a:t>
            </a:r>
            <a:endParaRPr lang="pt-BR" dirty="0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C91031EC-0E23-4782-8F90-B4156C8DFF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53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13075" y="1490006"/>
            <a:ext cx="3122166" cy="286232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Toda vez que digitamos qualquer numero em uma caixa de texto, ele vem como texto, então temos que converter para o que queremos. E aqui queremos números do tipo </a:t>
            </a:r>
            <a:r>
              <a:rPr lang="pt-BR" dirty="0" err="1"/>
              <a:t>double</a:t>
            </a:r>
            <a:r>
              <a:rPr lang="pt-BR" dirty="0"/>
              <a:t>, pois podem ter decimais.</a:t>
            </a:r>
          </a:p>
          <a:p>
            <a:r>
              <a:rPr lang="pt-BR" dirty="0"/>
              <a:t>Esse processo de converter se chama casting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AE238FCD-7E70-4067-9592-22CCD4B6B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25031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65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13075" y="1490006"/>
            <a:ext cx="312216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eu calculo a media 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E370B2BE-F8D1-4111-A37F-593C35BCB6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261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13075" y="1490006"/>
            <a:ext cx="3122166" cy="34163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é pura logica:</a:t>
            </a:r>
          </a:p>
          <a:p>
            <a:r>
              <a:rPr lang="pt-BR" dirty="0"/>
              <a:t>Se a media eh maior que 7 e o numero de falta menor que 20, aprovado.</a:t>
            </a:r>
          </a:p>
          <a:p>
            <a:r>
              <a:rPr lang="pt-BR" dirty="0"/>
              <a:t>Se a media eh maior que 7 mas o numero de falta eh maior que 20, reprovado</a:t>
            </a:r>
          </a:p>
          <a:p>
            <a:r>
              <a:rPr lang="pt-BR" dirty="0"/>
              <a:t>Se media eh menor que 7, aluno reprovado por media</a:t>
            </a:r>
          </a:p>
          <a:p>
            <a:r>
              <a:rPr lang="pt-BR" dirty="0"/>
              <a:t>E se o numero de falta for maior que 20, aluno retido por falta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E69DD609-440B-41F2-9EF6-8B663F86C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02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13075" y="1490006"/>
            <a:ext cx="3122166" cy="230832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Outro jeito de validar campos, crio uma variável verdadeira e se algum campo for vazio e torno essa variável falsa</a:t>
            </a:r>
          </a:p>
          <a:p>
            <a:r>
              <a:rPr lang="pt-BR" dirty="0"/>
              <a:t>E no final, retorno a variável.</a:t>
            </a:r>
          </a:p>
          <a:p>
            <a:r>
              <a:rPr lang="pt-BR" dirty="0"/>
              <a:t>La em cima, basta checar se o validaCampos2 eh verdadeiro ou falso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1AF52EA3-CF0D-40A1-9420-1FD3DD68DB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015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13075" y="1490006"/>
            <a:ext cx="3122166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otimizei a logica para não precisar de </a:t>
            </a:r>
            <a:r>
              <a:rPr lang="pt-BR" dirty="0" err="1"/>
              <a:t>usaro</a:t>
            </a:r>
            <a:r>
              <a:rPr lang="pt-BR" dirty="0"/>
              <a:t> o </a:t>
            </a:r>
            <a:r>
              <a:rPr lang="pt-BR" dirty="0" err="1"/>
              <a:t>if</a:t>
            </a:r>
            <a:endParaRPr lang="pt-BR" dirty="0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62460B30-F435-41F2-A6CD-7C471E9FB3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37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A8EBCE8-A8F5-4CBF-804A-E74DE5EB3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Retângulo: Único Canto Arredondado 2">
            <a:extLst>
              <a:ext uri="{FF2B5EF4-FFF2-40B4-BE49-F238E27FC236}">
                <a16:creationId xmlns:a16="http://schemas.microsoft.com/office/drawing/2014/main" id="{BDF5730F-ADAB-4BAF-BD6A-3B2039EFFA0C}"/>
              </a:ext>
            </a:extLst>
          </p:cNvPr>
          <p:cNvSpPr/>
          <p:nvPr/>
        </p:nvSpPr>
        <p:spPr>
          <a:xfrm>
            <a:off x="3675017" y="2549434"/>
            <a:ext cx="4841966" cy="1759131"/>
          </a:xfrm>
          <a:prstGeom prst="round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Apostila para o curso de PAMII</a:t>
            </a:r>
          </a:p>
          <a:p>
            <a:pPr algn="ctr"/>
            <a:endParaRPr lang="pt-BR" dirty="0"/>
          </a:p>
          <a:p>
            <a:pPr algn="ctr"/>
            <a:r>
              <a:rPr lang="pt-BR"/>
              <a:t>Professores:</a:t>
            </a:r>
            <a:endParaRPr lang="pt-BR" dirty="0"/>
          </a:p>
          <a:p>
            <a:pPr algn="ctr"/>
            <a:r>
              <a:rPr lang="pt-BR" dirty="0"/>
              <a:t>Fabio </a:t>
            </a:r>
            <a:r>
              <a:rPr lang="pt-BR" dirty="0" err="1"/>
              <a:t>Claret</a:t>
            </a:r>
            <a:endParaRPr lang="pt-BR" dirty="0"/>
          </a:p>
          <a:p>
            <a:pPr algn="ctr"/>
            <a:r>
              <a:rPr lang="pt-BR" dirty="0"/>
              <a:t>Cleiton Silva</a:t>
            </a:r>
          </a:p>
        </p:txBody>
      </p:sp>
    </p:spTree>
    <p:extLst>
      <p:ext uri="{BB962C8B-B14F-4D97-AF65-F5344CB8AC3E}">
        <p14:creationId xmlns:p14="http://schemas.microsoft.com/office/powerpoint/2010/main" val="26219932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7D5A911E655E34CA211CDE88CC408C0" ma:contentTypeVersion="0" ma:contentTypeDescription="Crie um novo documento." ma:contentTypeScope="" ma:versionID="adb6aa950888dd08b3a5664cec1d173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257547f92819c86ae4143fe76bb6c5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77EFB7A-1867-428D-802C-200D98F1939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D53B1-6FD5-4716-9429-4EF20F2D47CD}"/>
</file>

<file path=customXml/itemProps3.xml><?xml version="1.0" encoding="utf-8"?>
<ds:datastoreItem xmlns:ds="http://schemas.openxmlformats.org/officeDocument/2006/customXml" ds:itemID="{1B7037B8-FB3F-4B8B-8A9E-A1CB165D0512}">
  <ds:schemaRefs>
    <ds:schemaRef ds:uri="http://schemas.microsoft.com/office/infopath/2007/PartnerControls"/>
    <ds:schemaRef ds:uri="53cbd320-5af6-45fd-b4d6-411411bcb9f6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be99f806-f1aa-46f4-8cd0-6745c10f1c4b"/>
    <ds:schemaRef ds:uri="http://schemas.microsoft.com/office/2006/metadata/propertie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1399</Words>
  <Application>Microsoft Office PowerPoint</Application>
  <PresentationFormat>Widescreen</PresentationFormat>
  <Paragraphs>82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Tema do Office</vt:lpstr>
      <vt:lpstr>Aplicativo Media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Tipos de medias para os elementos de visualizacao</vt:lpstr>
      <vt:lpstr>No modo design podemos ver três tipos de ícones para as medidas: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Aplicativo Media</dc:title>
  <dc:creator>Fabio Claret Trigo de Oliveira</dc:creator>
  <cp:lastModifiedBy>FABIO OLIVEIRA</cp:lastModifiedBy>
  <cp:revision>13</cp:revision>
  <dcterms:created xsi:type="dcterms:W3CDTF">2023-12-27T15:50:04Z</dcterms:created>
  <dcterms:modified xsi:type="dcterms:W3CDTF">2025-09-05T19:27:06Z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0x01010057D5A911E655E34CA211CDE88CC408C0</vt:lpwstr>
  </property>
</Properties>
</file>